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EDE-5D7C-E13C-C6A7-2BC671CE9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28F89-A668-276C-5260-8DC28CD1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3A0F-4C08-05D4-2DD3-FF56DF14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15D4D-08DE-A423-CDF9-10673435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FA9D3-C955-3BA7-E83B-18FCFCE3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7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A73E-B6CF-CDE3-3C1A-9E445B71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0F2EE-579A-2FF1-4991-EE0CE504F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3A41-F2E7-27E2-48C8-09B0EDA4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60F4-1251-B554-8C68-40E9E4A7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27488-2CD3-D05E-A46C-E1BDB496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1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329D-B4C1-5CCC-A3C4-66808C51F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49EAF-01DB-32E7-358F-5A352B315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4934-12F2-F281-6D40-21312829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98054-F9C0-A437-730F-08825FBC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A58BE-6890-6842-6A3B-F8458AF7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5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D3BB-6A97-3E0C-154F-C9178372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8B3E-FFF5-F835-7972-FEE74B994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17DBB-FB39-2F37-8BEA-8C6D2967A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63DFC-E240-EAC7-C836-C62105F5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AE020-F1C9-09B3-3285-B4BCFBFA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93245-5344-0F9F-39B3-4F6F4A6A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0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9A54-594B-B33B-A6ED-A340DD9B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8CF1-C202-91A1-C330-7BDD7ED3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BB7A1-F9CD-7C41-C65B-6C521B3FC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BBC42-1BBB-FD3C-B486-451791213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1E35A-43D3-7155-540E-AE2E5141F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DD3FB-D5D6-92A7-445F-012805D0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8A550-269E-CF50-09FD-7570D550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742DA-5B22-9832-D891-05918C99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6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2CEE-C988-CAB1-B9C1-75DBF1AF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07C4F-A9C8-4F7D-B6EE-0ABAE9B6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9FC12-DE90-6E0F-4B74-91D32BE8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46593-86BA-E602-6FEB-EC0E2EA2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3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EBF8B-F458-254E-BCAE-DEDF64EF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5E94E-69F8-CD12-6301-72C0879D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2F13B-F835-F254-CFD4-73521CFE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5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B1A89-4810-528A-27B0-7A86C7D0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1025A-2165-11E7-4C06-A1B49102F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4C9B6-482D-320E-DF07-F9E944998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ABEB8-FB01-54FC-6044-7A79D69D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9FAA9-4C48-AD80-E033-DDDBE6C0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540AC-8482-5215-7F2D-6E0283BD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6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123D-51F9-A8FC-D248-F8859892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B74FA-4D6F-55C8-888D-8F05D8C66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632E0-6802-8BD5-C0F7-275A40C79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57734-0A0B-951A-5ED8-F35A6A31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F185B-058E-51BC-08FC-C9726968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F5EFC-99F2-98F7-ED1B-9F6587C6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0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1796-DA31-E286-97C8-C93169B4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19016-DA98-93C6-130F-32E77C84C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3C730-BC39-AFAB-044E-C0F9EB36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5CC1D-5EF3-AA0D-7B3E-51C78733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9BD-5A5C-2906-48FB-6EE15278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3930AC-3486-4AC9-662C-9C0017C35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1C3D9-1057-B5E6-21A2-AAA828C4B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90AF4-9570-3B4E-6726-213DB343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AFBC-C74B-5B3F-2049-E3ACAE7A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85FCA-0C73-C35C-C038-44C48043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7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B41AD-16F1-FEBE-9436-4FBBCD28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82CCA-CC41-77BE-2BF3-B3B3A8E52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55453-7154-63EB-3236-83578D188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3EB7D-7B0A-49FB-956D-DA36D9BE86B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92D7-B3EC-6834-93A2-00E13B880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0F38-C389-A194-FB37-D3C0A3B27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F7C3F-1559-4CBB-968A-294334B2C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08D7-6434-994C-9D6E-CD375C27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Powered by GPT - Software Quality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35441-7FD7-AB93-649A-F309FE706EF7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System Under Test: Online Sales Management System</a:t>
            </a:r>
          </a:p>
          <a:p>
            <a:r>
              <a:rPr lang="en-US" sz="2200">
                <a:latin typeface="Aptos" panose="020B0004020202020204" pitchFamily="34" charset="0"/>
              </a:rPr>
              <a:t>Course: Software Testing</a:t>
            </a:r>
          </a:p>
          <a:p>
            <a:r>
              <a:rPr lang="en-US" sz="2200">
                <a:latin typeface="Aptos" panose="020B0004020202020204" pitchFamily="34" charset="0"/>
              </a:rPr>
              <a:t>Team: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</a:t>
            </a:r>
          </a:p>
          <a:p>
            <a:r>
              <a:rPr lang="en-US" sz="2200">
                <a:latin typeface="Aptos" panose="020B0004020202020204" pitchFamily="34" charset="0"/>
              </a:rPr>
              <a:t>Le Quang Duy</a:t>
            </a:r>
          </a:p>
          <a:p>
            <a:r>
              <a:rPr lang="en-US" sz="2200">
                <a:latin typeface="Aptos" panose="020B0004020202020204" pitchFamily="34" charset="0"/>
              </a:rPr>
              <a:t>Repository:</a:t>
            </a:r>
          </a:p>
          <a:p>
            <a:r>
              <a:rPr lang="en-US" sz="2200">
                <a:latin typeface="Aptos" panose="020B0004020202020204" pitchFamily="34" charset="0"/>
              </a:rPr>
              <a:t>github.com/Alucard30Dec/Online-Sales-Management-System</a:t>
            </a:r>
          </a:p>
        </p:txBody>
      </p:sp>
    </p:spTree>
    <p:extLst>
      <p:ext uri="{BB962C8B-B14F-4D97-AF65-F5344CB8AC3E}">
        <p14:creationId xmlns:p14="http://schemas.microsoft.com/office/powerpoint/2010/main" val="2356384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6338-FB36-5652-8169-60D82992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Project And Test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CE852-0112-B422-A2B9-FA2B278DCAF4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Tested</a:t>
            </a:r>
          </a:p>
          <a:p>
            <a:r>
              <a:rPr lang="en-US" sz="2200">
                <a:latin typeface="Aptos" panose="020B0004020202020204" pitchFamily="34" charset="0"/>
              </a:rPr>
              <a:t>Admin UI</a:t>
            </a:r>
          </a:p>
          <a:p>
            <a:r>
              <a:rPr lang="en-US" sz="2200">
                <a:latin typeface="Aptos" panose="020B0004020202020204" pitchFamily="34" charset="0"/>
              </a:rPr>
              <a:t>Public Product Catalog</a:t>
            </a:r>
          </a:p>
          <a:p>
            <a:r>
              <a:rPr lang="en-US" sz="2200">
                <a:latin typeface="Aptos" panose="020B0004020202020204" pitchFamily="34" charset="0"/>
              </a:rPr>
              <a:t>Health API</a:t>
            </a:r>
          </a:p>
          <a:p>
            <a:r>
              <a:rPr lang="en-US" sz="2200">
                <a:latin typeface="Aptos" panose="020B0004020202020204" pitchFamily="34" charset="0"/>
              </a:rPr>
              <a:t>Catalog API</a:t>
            </a:r>
          </a:p>
          <a:p>
            <a:r>
              <a:rPr lang="en-US" sz="2200">
                <a:latin typeface="Aptos" panose="020B0004020202020204" pitchFamily="34" charset="0"/>
              </a:rPr>
              <a:t>Highest-Risk Business Areas</a:t>
            </a:r>
          </a:p>
          <a:p>
            <a:r>
              <a:rPr lang="en-US" sz="2200">
                <a:latin typeface="Aptos" panose="020B0004020202020204" pitchFamily="34" charset="0"/>
              </a:rPr>
              <a:t>Authentication and permissions</a:t>
            </a:r>
          </a:p>
          <a:p>
            <a:r>
              <a:rPr lang="en-US" sz="2200">
                <a:latin typeface="Aptos" panose="020B0004020202020204" pitchFamily="34" charset="0"/>
              </a:rPr>
              <a:t>Products and product import</a:t>
            </a:r>
          </a:p>
          <a:p>
            <a:r>
              <a:rPr lang="en-US" sz="2200">
                <a:latin typeface="Aptos" panose="020B0004020202020204" pitchFamily="34" charset="0"/>
              </a:rPr>
              <a:t>Purchases</a:t>
            </a:r>
          </a:p>
          <a:p>
            <a:r>
              <a:rPr lang="en-US" sz="2200">
                <a:latin typeface="Aptos" panose="020B0004020202020204" pitchFamily="34" charset="0"/>
              </a:rPr>
              <a:t>Invoices</a:t>
            </a:r>
          </a:p>
          <a:p>
            <a:r>
              <a:rPr lang="en-US" sz="2200">
                <a:latin typeface="Aptos" panose="020B0004020202020204" pitchFamily="34" charset="0"/>
              </a:rPr>
              <a:t>Stock and reports</a:t>
            </a:r>
          </a:p>
        </p:txBody>
      </p:sp>
    </p:spTree>
    <p:extLst>
      <p:ext uri="{BB962C8B-B14F-4D97-AF65-F5344CB8AC3E}">
        <p14:creationId xmlns:p14="http://schemas.microsoft.com/office/powerpoint/2010/main" val="182623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429B-A4D4-32B1-8829-07A9A211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Test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F0083-E79E-D4CD-3D93-B98D24E98905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Strategy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project audit, not generic template testing</a:t>
            </a:r>
          </a:p>
          <a:p>
            <a:r>
              <a:rPr lang="en-US" sz="2200">
                <a:latin typeface="Aptos" panose="020B0004020202020204" pitchFamily="34" charset="0"/>
              </a:rPr>
              <a:t>black-box execution + white-box-informed test design</a:t>
            </a:r>
          </a:p>
          <a:p>
            <a:r>
              <a:rPr lang="en-US" sz="2200">
                <a:latin typeface="Aptos" panose="020B0004020202020204" pitchFamily="34" charset="0"/>
              </a:rPr>
              <a:t>manual testing for business logic and visible validation</a:t>
            </a:r>
          </a:p>
          <a:p>
            <a:r>
              <a:rPr lang="en-US" sz="2200">
                <a:latin typeface="Aptos" panose="020B0004020202020204" pitchFamily="34" charset="0"/>
              </a:rPr>
              <a:t>targeted automation for high-value regression paths</a:t>
            </a:r>
          </a:p>
          <a:p>
            <a:r>
              <a:rPr lang="en-US" sz="2200">
                <a:latin typeface="Aptos" panose="020B0004020202020204" pitchFamily="34" charset="0"/>
              </a:rPr>
              <a:t>Automation Stack</a:t>
            </a:r>
          </a:p>
          <a:p>
            <a:r>
              <a:rPr lang="en-US" sz="2200">
                <a:latin typeface="Aptos" panose="020B0004020202020204" pitchFamily="34" charset="0"/>
              </a:rPr>
              <a:t>UI: .NET 8 + xUnit + Selenium</a:t>
            </a:r>
          </a:p>
          <a:p>
            <a:r>
              <a:rPr lang="en-US" sz="2200">
                <a:latin typeface="Aptos" panose="020B0004020202020204" pitchFamily="34" charset="0"/>
              </a:rPr>
              <a:t>API: Postman + Newman</a:t>
            </a:r>
          </a:p>
          <a:p>
            <a:r>
              <a:rPr lang="en-US" sz="2200">
                <a:latin typeface="Aptos" panose="020B0004020202020204" pitchFamily="34" charset="0"/>
              </a:rPr>
              <a:t>structure: Page Object Model + reusable helpers</a:t>
            </a:r>
          </a:p>
        </p:txBody>
      </p:sp>
    </p:spTree>
    <p:extLst>
      <p:ext uri="{BB962C8B-B14F-4D97-AF65-F5344CB8AC3E}">
        <p14:creationId xmlns:p14="http://schemas.microsoft.com/office/powerpoint/2010/main" val="9083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E701-7A5C-250F-5657-BE6C15AA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Coverage And Team Allocation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40C48-B7AA-F07F-7FBC-683FF436B0D7}"/>
              </a:ext>
            </a:extLst>
          </p:cNvPr>
          <p:cNvSpPr txBox="1"/>
          <p:nvPr/>
        </p:nvSpPr>
        <p:spPr>
          <a:xfrm>
            <a:off x="698500" y="1587500"/>
            <a:ext cx="6604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42 documented scenarios</a:t>
            </a:r>
          </a:p>
          <a:p>
            <a:r>
              <a:rPr lang="en-US" sz="2200">
                <a:latin typeface="Aptos" panose="020B0004020202020204" pitchFamily="34" charset="0"/>
              </a:rPr>
              <a:t>63 total test cases</a:t>
            </a:r>
          </a:p>
          <a:p>
            <a:r>
              <a:rPr lang="en-US" sz="2200">
                <a:latin typeface="Aptos" panose="020B0004020202020204" pitchFamily="34" charset="0"/>
              </a:rPr>
              <a:t>44 UI</a:t>
            </a:r>
          </a:p>
          <a:p>
            <a:r>
              <a:rPr lang="en-US" sz="2200">
                <a:latin typeface="Aptos" panose="020B0004020202020204" pitchFamily="34" charset="0"/>
              </a:rPr>
              <a:t>19 API</a:t>
            </a:r>
          </a:p>
          <a:p>
            <a:r>
              <a:rPr lang="en-US" sz="2200">
                <a:latin typeface="Aptos" panose="020B0004020202020204" pitchFamily="34" charset="0"/>
              </a:rPr>
              <a:t>100% scenario design coverage</a:t>
            </a:r>
          </a:p>
          <a:p>
            <a:r>
              <a:rPr lang="en-US" sz="2200">
                <a:latin typeface="Aptos" panose="020B0004020202020204" pitchFamily="34" charset="0"/>
              </a:rPr>
              <a:t>Team Allocation</a:t>
            </a:r>
          </a:p>
          <a:p>
            <a:r>
              <a:rPr lang="en-US" sz="2200">
                <a:latin typeface="Aptos" panose="020B0004020202020204" pitchFamily="34" charset="0"/>
              </a:rPr>
              <a:t>Hoang Van Thien: 17 UI cases</a:t>
            </a:r>
          </a:p>
          <a:p>
            <a:r>
              <a:rPr lang="en-US" sz="2200">
                <a:latin typeface="Aptos" panose="020B0004020202020204" pitchFamily="34" charset="0"/>
              </a:rPr>
              <a:t>Nguyen Thanh Dat: 13 UI cases</a:t>
            </a:r>
          </a:p>
          <a:p>
            <a:r>
              <a:rPr lang="en-US" sz="2200">
                <a:latin typeface="Aptos" panose="020B0004020202020204" pitchFamily="34" charset="0"/>
              </a:rPr>
              <a:t>Le Quang Duy: 14 UI cases</a:t>
            </a:r>
          </a:p>
        </p:txBody>
      </p:sp>
    </p:spTree>
    <p:extLst>
      <p:ext uri="{BB962C8B-B14F-4D97-AF65-F5344CB8AC3E}">
        <p14:creationId xmlns:p14="http://schemas.microsoft.com/office/powerpoint/2010/main" val="110245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60EB-1063-0BF5-9B4E-6F6006B0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Automation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FD2B1-CB9C-A6F6-9BAD-035F929A3B31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Implemented Automation Assets</a:t>
            </a:r>
          </a:p>
          <a:p>
            <a:r>
              <a:rPr lang="en-US" sz="2200">
                <a:latin typeface="Aptos" panose="020B0004020202020204" pitchFamily="34" charset="0"/>
              </a:rPr>
              <a:t>Selenium UI project with Page Objects</a:t>
            </a:r>
          </a:p>
          <a:p>
            <a:r>
              <a:rPr lang="en-US" sz="2200">
                <a:latin typeface="Aptos" panose="020B0004020202020204" pitchFamily="34" charset="0"/>
              </a:rPr>
              <a:t>shared config, wait helpers, screenshot capture</a:t>
            </a:r>
          </a:p>
          <a:p>
            <a:r>
              <a:rPr lang="en-US" sz="2200">
                <a:latin typeface="Aptos" panose="020B0004020202020204" pitchFamily="34" charset="0"/>
              </a:rPr>
              <a:t>Postman collection with Newman runner</a:t>
            </a:r>
          </a:p>
          <a:p>
            <a:r>
              <a:rPr lang="en-US" sz="2200">
                <a:latin typeface="Aptos" panose="020B0004020202020204" pitchFamily="34" charset="0"/>
              </a:rPr>
              <a:t>Priority Automated Flows</a:t>
            </a:r>
          </a:p>
          <a:p>
            <a:r>
              <a:rPr lang="en-US" sz="2200">
                <a:latin typeface="Aptos" panose="020B0004020202020204" pitchFamily="34" charset="0"/>
              </a:rPr>
              <a:t>admin login smoke</a:t>
            </a:r>
          </a:p>
          <a:p>
            <a:r>
              <a:rPr lang="en-US" sz="2200">
                <a:latin typeface="Aptos" panose="020B0004020202020204" pitchFamily="34" charset="0"/>
              </a:rPr>
              <a:t>sales permission check</a:t>
            </a:r>
          </a:p>
          <a:p>
            <a:r>
              <a:rPr lang="en-US" sz="2200">
                <a:latin typeface="Aptos" panose="020B0004020202020204" pitchFamily="34" charset="0"/>
              </a:rPr>
              <a:t>purchase creation</a:t>
            </a:r>
          </a:p>
          <a:p>
            <a:r>
              <a:rPr lang="en-US" sz="2200">
                <a:latin typeface="Aptos" panose="020B0004020202020204" pitchFamily="34" charset="0"/>
              </a:rPr>
              <a:t>invoice creation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</a:t>
            </a:r>
          </a:p>
          <a:p>
            <a:r>
              <a:rPr lang="en-US" sz="2200">
                <a:latin typeface="Aptos" panose="020B0004020202020204" pitchFamily="34" charset="0"/>
              </a:rPr>
              <a:t>API health and catalog groups</a:t>
            </a:r>
          </a:p>
        </p:txBody>
      </p:sp>
    </p:spTree>
    <p:extLst>
      <p:ext uri="{BB962C8B-B14F-4D97-AF65-F5344CB8AC3E}">
        <p14:creationId xmlns:p14="http://schemas.microsoft.com/office/powerpoint/2010/main" val="237762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C8C5-0B5E-AE1C-99A2-E99A89DB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Real Execution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B1003-83CC-8A69-B9FD-09A707A6CB41}"/>
              </a:ext>
            </a:extLst>
          </p:cNvPr>
          <p:cNvSpPr txBox="1"/>
          <p:nvPr/>
        </p:nvSpPr>
        <p:spPr>
          <a:xfrm>
            <a:off x="698500" y="1587500"/>
            <a:ext cx="6604000" cy="4493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Pass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TC-UI-AUTH-001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TC-UI-AUTH-003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TC-UI-IMP-002 passed</a:t>
            </a:r>
          </a:p>
          <a:p>
            <a:r>
              <a:rPr lang="en-US" sz="2200">
                <a:latin typeface="Aptos" panose="020B0004020202020204" pitchFamily="34" charset="0"/>
              </a:rPr>
              <a:t>TC-UI-PUR-001 and TC-UI-PUR-007 passed</a:t>
            </a:r>
          </a:p>
          <a:p>
            <a:r>
              <a:rPr lang="en-US" sz="2200">
                <a:latin typeface="Aptos" panose="020B0004020202020204" pitchFamily="34" charset="0"/>
              </a:rPr>
              <a:t>full API collection passed (19 / 19)</a:t>
            </a:r>
          </a:p>
          <a:p>
            <a:r>
              <a:rPr lang="en-US" sz="2200">
                <a:latin typeface="Aptos" panose="020B0004020202020204" pitchFamily="34" charset="0"/>
              </a:rPr>
              <a:t>Confirmed Fail Evidence</a:t>
            </a:r>
          </a:p>
          <a:p>
            <a:r>
              <a:rPr lang="en-US" sz="2200">
                <a:latin typeface="Aptos" panose="020B0004020202020204" pitchFamily="34" charset="0"/>
              </a:rPr>
              <a:t>TC-UI-INV-001 failed with UI and server-log proof</a:t>
            </a:r>
          </a:p>
          <a:p>
            <a:r>
              <a:rPr lang="en-US" sz="2200">
                <a:latin typeface="Aptos" panose="020B0004020202020204" pitchFamily="34" charset="0"/>
              </a:rPr>
              <a:t>Important Rule</a:t>
            </a:r>
          </a:p>
          <a:p>
            <a:r>
              <a:rPr lang="en-US" sz="2200">
                <a:latin typeface="Aptos" panose="020B0004020202020204" pitchFamily="34" charset="0"/>
              </a:rPr>
              <a:t>no unexecuted test was marked as pass</a:t>
            </a:r>
          </a:p>
          <a:p>
            <a:r>
              <a:rPr lang="en-US" sz="2200">
                <a:latin typeface="Aptos" panose="020B0004020202020204" pitchFamily="34" charset="0"/>
              </a:rPr>
              <a:t>only one issue was promoted into a confirmed defect because the root cause was proven by server log evidence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04C25-E4D9-C62C-F23C-A2CF3945510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FC0F-10C8-46F3-8460-3A8616E2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Current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7F997-021C-FF75-9AD7-D96EAB885711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Execution Summary As Of 2026-04-06</a:t>
            </a:r>
          </a:p>
          <a:p>
            <a:r>
              <a:rPr lang="en-US" sz="2200">
                <a:latin typeface="Aptos" panose="020B0004020202020204" pitchFamily="34" charset="0"/>
              </a:rPr>
              <a:t>total cases: 63</a:t>
            </a:r>
          </a:p>
          <a:p>
            <a:r>
              <a:rPr lang="en-US" sz="2200">
                <a:latin typeface="Aptos" panose="020B0004020202020204" pitchFamily="34" charset="0"/>
              </a:rPr>
              <a:t>executed: 25</a:t>
            </a:r>
          </a:p>
          <a:p>
            <a:r>
              <a:rPr lang="en-US" sz="2200">
                <a:latin typeface="Aptos" panose="020B0004020202020204" pitchFamily="34" charset="0"/>
              </a:rPr>
              <a:t>pass: 24</a:t>
            </a:r>
          </a:p>
          <a:p>
            <a:r>
              <a:rPr lang="en-US" sz="2200">
                <a:latin typeface="Aptos" panose="020B0004020202020204" pitchFamily="34" charset="0"/>
              </a:rPr>
              <a:t>fail: 1</a:t>
            </a:r>
          </a:p>
          <a:p>
            <a:r>
              <a:rPr lang="en-US" sz="2200">
                <a:latin typeface="Aptos" panose="020B0004020202020204" pitchFamily="34" charset="0"/>
              </a:rPr>
              <a:t>blocked: 0</a:t>
            </a:r>
          </a:p>
          <a:p>
            <a:r>
              <a:rPr lang="en-US" sz="2200">
                <a:latin typeface="Aptos" panose="020B0004020202020204" pitchFamily="34" charset="0"/>
              </a:rPr>
              <a:t>not run: 38</a:t>
            </a:r>
          </a:p>
          <a:p>
            <a:r>
              <a:rPr lang="en-US" sz="2200">
                <a:latin typeface="Aptos" panose="020B0004020202020204" pitchFamily="34" charset="0"/>
              </a:rPr>
              <a:t>execution progress: 39.68%</a:t>
            </a:r>
          </a:p>
          <a:p>
            <a:r>
              <a:rPr lang="en-US" sz="2200">
                <a:latin typeface="Aptos" panose="020B0004020202020204" pitchFamily="34" charset="0"/>
              </a:rPr>
              <a:t>Interface View</a:t>
            </a:r>
          </a:p>
          <a:p>
            <a:r>
              <a:rPr lang="en-US" sz="2200">
                <a:latin typeface="Aptos" panose="020B0004020202020204" pitchFamily="34" charset="0"/>
              </a:rPr>
              <a:t>Admin UI: 6 executed, 5 pass, 1 fail</a:t>
            </a:r>
          </a:p>
          <a:p>
            <a:r>
              <a:rPr lang="en-US" sz="2200">
                <a:latin typeface="Aptos" panose="020B0004020202020204" pitchFamily="34" charset="0"/>
              </a:rPr>
              <a:t>API: 19 executed, 19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1DD80-59CF-E742-E7FF-7AA7D6D71E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5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446E-79E7-922A-38D6-FAC8BD1F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Defect And Risk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AEFE8-2617-6E9D-C247-65A2A8731094}"/>
              </a:ext>
            </a:extLst>
          </p:cNvPr>
          <p:cNvSpPr txBox="1"/>
          <p:nvPr/>
        </p:nvSpPr>
        <p:spPr>
          <a:xfrm>
            <a:off x="698500" y="1587500"/>
            <a:ext cx="6604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Confirmed Defects</a:t>
            </a:r>
          </a:p>
          <a:p>
            <a:r>
              <a:rPr lang="en-US" sz="2200">
                <a:latin typeface="Aptos" panose="020B0004020202020204" pitchFamily="34" charset="0"/>
              </a:rPr>
              <a:t>1 confirmed defect</a:t>
            </a:r>
          </a:p>
          <a:p>
            <a:r>
              <a:rPr lang="en-US" sz="2200">
                <a:latin typeface="Aptos" panose="020B0004020202020204" pitchFamily="34" charset="0"/>
              </a:rPr>
              <a:t>BUG-20260406-001 in invoice creation</a:t>
            </a:r>
          </a:p>
          <a:p>
            <a:r>
              <a:rPr lang="en-US" sz="2200">
                <a:latin typeface="Aptos" panose="020B0004020202020204" pitchFamily="34" charset="0"/>
              </a:rPr>
              <a:t>tracked in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Closed Observations</a:t>
            </a:r>
          </a:p>
          <a:p>
            <a:r>
              <a:rPr lang="en-US" sz="2200">
                <a:latin typeface="Aptos" panose="020B0004020202020204" pitchFamily="34" charset="0"/>
              </a:rPr>
              <a:t>authorization redirect behavior</a:t>
            </a:r>
          </a:p>
          <a:p>
            <a:r>
              <a:rPr lang="en-US" sz="2200">
                <a:latin typeface="Aptos" panose="020B0004020202020204" pitchFamily="34" charset="0"/>
              </a:rPr>
              <a:t>product import preview locator issue</a:t>
            </a:r>
          </a:p>
          <a:p>
            <a:r>
              <a:rPr lang="en-US" sz="2200">
                <a:latin typeface="Aptos" panose="020B0004020202020204" pitchFamily="34" charset="0"/>
              </a:rPr>
              <a:t>Highest Business Risks Still Unverified</a:t>
            </a:r>
          </a:p>
          <a:p>
            <a:r>
              <a:rPr lang="en-US" sz="2200">
                <a:latin typeface="Aptos" panose="020B0004020202020204" pitchFamily="34" charset="0"/>
              </a:rPr>
              <a:t>Stock</a:t>
            </a:r>
          </a:p>
          <a:p>
            <a:r>
              <a:rPr lang="en-US" sz="2200">
                <a:latin typeface="Aptos" panose="020B0004020202020204" pitchFamily="34" charset="0"/>
              </a:rPr>
              <a:t>Products</a:t>
            </a:r>
          </a:p>
          <a:p>
            <a:r>
              <a:rPr lang="en-US" sz="2200">
                <a:latin typeface="Aptos" panose="020B0004020202020204" pitchFamily="34" charset="0"/>
              </a:rPr>
              <a:t>Reports</a:t>
            </a:r>
          </a:p>
          <a:p>
            <a:r>
              <a:rPr lang="en-US" sz="2200">
                <a:latin typeface="Aptos" panose="020B0004020202020204" pitchFamily="34" charset="0"/>
              </a:rPr>
              <a:t>Public Catalog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1688F-6906-4BE2-05E1-096A046051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524000"/>
            <a:ext cx="7874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9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C4BE-6EB4-A828-0EC8-784ADED8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AD166-5238-ED40-A0FE-8725D591A66A}"/>
              </a:ext>
            </a:extLst>
          </p:cNvPr>
          <p:cNvSpPr txBox="1"/>
          <p:nvPr/>
        </p:nvSpPr>
        <p:spPr>
          <a:xfrm>
            <a:off x="698500" y="1587500"/>
            <a:ext cx="6604000" cy="38164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What We Can Defend</a:t>
            </a:r>
          </a:p>
          <a:p>
            <a:r>
              <a:rPr lang="en-US" sz="2200">
                <a:latin typeface="Aptos" panose="020B0004020202020204" pitchFamily="34" charset="0"/>
              </a:rPr>
              <a:t>project is testable and automation-capable</a:t>
            </a:r>
          </a:p>
          <a:p>
            <a:r>
              <a:rPr lang="en-US" sz="2200">
                <a:latin typeface="Aptos" panose="020B0004020202020204" pitchFamily="34" charset="0"/>
              </a:rPr>
              <a:t>source-based test design is strong</a:t>
            </a:r>
          </a:p>
          <a:p>
            <a:r>
              <a:rPr lang="en-US" sz="2200">
                <a:latin typeface="Aptos" panose="020B0004020202020204" pitchFamily="34" charset="0"/>
              </a:rPr>
              <a:t>traceability from scenario -&gt; test case -&gt; result -&gt; evidence -&gt; defect is in place</a:t>
            </a:r>
          </a:p>
          <a:p>
            <a:r>
              <a:rPr lang="en-US" sz="2200">
                <a:latin typeface="Aptos" panose="020B0004020202020204" pitchFamily="34" charset="0"/>
              </a:rPr>
              <a:t>What We Do Not Overclaim</a:t>
            </a:r>
          </a:p>
          <a:p>
            <a:r>
              <a:rPr lang="en-US" sz="2200">
                <a:latin typeface="Aptos" panose="020B0004020202020204" pitchFamily="34" charset="0"/>
              </a:rPr>
              <a:t>current evidence still does not prove full system stability</a:t>
            </a:r>
          </a:p>
          <a:p>
            <a:r>
              <a:rPr lang="en-US" sz="2200">
                <a:latin typeface="Aptos" panose="020B0004020202020204" pitchFamily="34" charset="0"/>
              </a:rPr>
              <a:t>one core business defect is currently confirmed</a:t>
            </a:r>
          </a:p>
          <a:p>
            <a:r>
              <a:rPr lang="en-US" sz="2200">
                <a:latin typeface="Aptos" panose="020B0004020202020204" pitchFamily="34" charset="0"/>
              </a:rPr>
              <a:t>more UI execution is still required for high-confidence quality claims</a:t>
            </a:r>
          </a:p>
        </p:txBody>
      </p:sp>
    </p:spTree>
    <p:extLst>
      <p:ext uri="{BB962C8B-B14F-4D97-AF65-F5344CB8AC3E}">
        <p14:creationId xmlns:p14="http://schemas.microsoft.com/office/powerpoint/2010/main" val="180700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B1566-0724-81F4-07DE-416CC733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Next Steps And Submission 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3832E-9A38-01C3-1518-37380CD426CB}"/>
              </a:ext>
            </a:extLst>
          </p:cNvPr>
          <p:cNvSpPr txBox="1"/>
          <p:nvPr/>
        </p:nvSpPr>
        <p:spPr>
          <a:xfrm>
            <a:off x="698500" y="1587500"/>
            <a:ext cx="6604000" cy="65248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Highest-Value Next Steps</a:t>
            </a:r>
          </a:p>
          <a:p>
            <a:r>
              <a:rPr lang="en-US" sz="2200">
                <a:latin typeface="Aptos" panose="020B0004020202020204" pitchFamily="34" charset="0"/>
              </a:rPr>
              <a:t>1. fix and retest invoice creation through GitHub Issue #1</a:t>
            </a:r>
          </a:p>
          <a:p>
            <a:r>
              <a:rPr lang="en-US" sz="2200">
                <a:latin typeface="Aptos" panose="020B0004020202020204" pitchFamily="34" charset="0"/>
              </a:rPr>
              <a:t>2. execute stock, reports, products, and public-catalog UI flows</a:t>
            </a:r>
          </a:p>
          <a:p>
            <a:r>
              <a:rPr lang="en-US" sz="2200">
                <a:latin typeface="Aptos" panose="020B0004020202020204" pitchFamily="34" charset="0"/>
              </a:rPr>
              <a:t>3. add optional cross-browser evidence if Edge is available</a:t>
            </a:r>
          </a:p>
          <a:p>
            <a:r>
              <a:rPr lang="en-US" sz="2200">
                <a:latin typeface="Aptos" panose="020B0004020202020204" pitchFamily="34" charset="0"/>
              </a:rPr>
              <a:t>4. refresh the report, slides, and metrics only if new execution evidence is added</a:t>
            </a:r>
          </a:p>
          <a:p>
            <a:r>
              <a:rPr lang="en-US" sz="2200">
                <a:latin typeface="Aptos" panose="020B0004020202020204" pitchFamily="34" charset="0"/>
              </a:rPr>
              <a:t>Submission Package</a:t>
            </a:r>
          </a:p>
          <a:p>
            <a:r>
              <a:rPr lang="en-US" sz="2200">
                <a:latin typeface="Aptos" panose="020B0004020202020204" pitchFamily="34" charset="0"/>
              </a:rPr>
              <a:t>Final report</a:t>
            </a:r>
          </a:p>
          <a:p>
            <a:r>
              <a:rPr lang="en-US" sz="2200">
                <a:latin typeface="Aptos" panose="020B0004020202020204" pitchFamily="34" charset="0"/>
              </a:rPr>
              <a:t>PPTX</a:t>
            </a:r>
          </a:p>
          <a:p>
            <a:r>
              <a:rPr lang="en-US" sz="2200">
                <a:latin typeface="Aptos" panose="020B0004020202020204" pitchFamily="34" charset="0"/>
              </a:rPr>
              <a:t>test cases</a:t>
            </a:r>
          </a:p>
          <a:p>
            <a:r>
              <a:rPr lang="en-US" sz="2200">
                <a:latin typeface="Aptos" panose="020B0004020202020204" pitchFamily="34" charset="0"/>
              </a:rPr>
              <a:t>test data</a:t>
            </a:r>
          </a:p>
          <a:p>
            <a:r>
              <a:rPr lang="en-US" sz="2200">
                <a:latin typeface="Aptos" panose="020B0004020202020204" pitchFamily="34" charset="0"/>
              </a:rPr>
              <a:t>automation scripts</a:t>
            </a:r>
          </a:p>
          <a:p>
            <a:r>
              <a:rPr lang="en-US" sz="2200">
                <a:latin typeface="Aptos" panose="020B0004020202020204" pitchFamily="34" charset="0"/>
              </a:rPr>
              <a:t>final results</a:t>
            </a:r>
          </a:p>
          <a:p>
            <a:r>
              <a:rPr lang="en-US" sz="2200">
                <a:latin typeface="Aptos" panose="020B0004020202020204" pitchFamily="34" charset="0"/>
              </a:rPr>
              <a:t>metrics</a:t>
            </a:r>
          </a:p>
          <a:p>
            <a:r>
              <a:rPr lang="en-US" sz="2200">
                <a:latin typeface="Aptos" panose="020B0004020202020204" pitchFamily="34" charset="0"/>
              </a:rPr>
              <a:t>evidence</a:t>
            </a:r>
          </a:p>
          <a:p>
            <a:r>
              <a:rPr lang="en-US" sz="2200">
                <a:latin typeface="Aptos" panose="020B0004020202020204" pitchFamily="34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510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FE49-E38A-F33B-ACDC-AB1E0F40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Q&amp;A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5592A-75EA-2DE8-1EAF-90DA1109A766}"/>
              </a:ext>
            </a:extLst>
          </p:cNvPr>
          <p:cNvSpPr txBox="1"/>
          <p:nvPr/>
        </p:nvSpPr>
        <p:spPr>
          <a:xfrm>
            <a:off x="698500" y="1587500"/>
            <a:ext cx="66040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Likely Questions</a:t>
            </a:r>
          </a:p>
          <a:p>
            <a:r>
              <a:rPr lang="en-US" sz="2200">
                <a:latin typeface="Aptos" panose="020B0004020202020204" pitchFamily="34" charset="0"/>
              </a:rPr>
              <a:t>Why do you have 0 confirmed defects?</a:t>
            </a:r>
          </a:p>
          <a:p>
            <a:r>
              <a:rPr lang="en-US" sz="2200">
                <a:latin typeface="Aptos" panose="020B0004020202020204" pitchFamily="34" charset="0"/>
              </a:rPr>
              <a:t>Why is execution progress still low?</a:t>
            </a:r>
          </a:p>
          <a:p>
            <a:r>
              <a:rPr lang="en-US" sz="2200">
                <a:latin typeface="Aptos" panose="020B0004020202020204" pitchFamily="34" charset="0"/>
              </a:rPr>
              <a:t>Why did you choose Selenium and Newman?</a:t>
            </a:r>
          </a:p>
          <a:p>
            <a:r>
              <a:rPr lang="en-US" sz="2200">
                <a:latin typeface="Aptos" panose="020B0004020202020204" pitchFamily="34" charset="0"/>
              </a:rPr>
              <a:t>How do you distinguish automation failure from product defect?</a:t>
            </a:r>
          </a:p>
          <a:p>
            <a:r>
              <a:rPr lang="en-US" sz="2200">
                <a:latin typeface="Aptos" panose="020B0004020202020204" pitchFamily="34" charset="0"/>
              </a:rPr>
              <a:t>Which module is riskiest right now?</a:t>
            </a:r>
          </a:p>
        </p:txBody>
      </p:sp>
    </p:spTree>
    <p:extLst>
      <p:ext uri="{BB962C8B-B14F-4D97-AF65-F5344CB8AC3E}">
        <p14:creationId xmlns:p14="http://schemas.microsoft.com/office/powerpoint/2010/main" val="163951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Powered by GPT - Software Quality Verification</vt:lpstr>
      <vt:lpstr>Project And Test Scope</vt:lpstr>
      <vt:lpstr>Test Strategy</vt:lpstr>
      <vt:lpstr>Coverage And Team Allocation</vt:lpstr>
      <vt:lpstr>Automation Implementation</vt:lpstr>
      <vt:lpstr>Real Execution Evidence</vt:lpstr>
      <vt:lpstr>Current Metrics</vt:lpstr>
      <vt:lpstr>Defect And Risk Analysis</vt:lpstr>
      <vt:lpstr>Key Insights</vt:lpstr>
      <vt:lpstr>Next Steps And Submission Package</vt:lpstr>
      <vt:lpstr>Q&amp;A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Hoàng</dc:creator>
  <cp:lastModifiedBy>Thiên Hoàng</cp:lastModifiedBy>
  <cp:revision>1</cp:revision>
  <dcterms:created xsi:type="dcterms:W3CDTF">2026-04-06T08:38:42Z</dcterms:created>
  <dcterms:modified xsi:type="dcterms:W3CDTF">2026-04-06T08:38:42Z</dcterms:modified>
</cp:coreProperties>
</file>